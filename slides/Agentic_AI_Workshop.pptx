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7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49"/>
    <p:restoredTop sz="94610"/>
  </p:normalViewPr>
  <p:slideViewPr>
    <p:cSldViewPr snapToGrid="0" snapToObjects="1">
      <p:cViewPr varScale="1">
        <p:scale>
          <a:sx n="222" d="100"/>
          <a:sy n="222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3387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AE36B9A-1D72-8E01-8410-67DDBAA00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332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234440"/>
            <a:ext cx="502920" cy="502920"/>
          </a:xfrm>
          <a:prstGeom prst="rect">
            <a:avLst/>
          </a:prstGeom>
          <a:solidFill>
            <a:srgbClr val="0FB5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502920" cy="50292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057400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for</a:t>
            </a:r>
            <a:endParaRPr lang="en-US" sz="4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Workflows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49808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workshop · drive an </a:t>
            </a:r>
            <a:r>
              <a:rPr lang="en-US" dirty="0">
                <a:solidFill>
                  <a:srgbClr val="A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model</a:t>
            </a:r>
            <a:r>
              <a:rPr lang="en-US" sz="1800" dirty="0">
                <a:solidFill>
                  <a:srgbClr val="A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OpenCode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4800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setup</a:t>
            </a:r>
            <a:r>
              <a:rPr lang="en-US" sz="1600" dirty="0">
                <a:solidFill>
                  <a:srgbClr val="A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r>
              <a:rPr lang="en-US" sz="16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hands-on tasks</a:t>
            </a:r>
            <a:r>
              <a:rPr lang="en-US" sz="1600" dirty="0">
                <a:solidFill>
                  <a:srgbClr val="A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~2 hours · follow along on screen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831836" y="573887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 for the kit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6927596" y="6177788"/>
            <a:ext cx="4675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github.com/nicklj/agent-workshop-kit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439A12-DD72-307A-3FDE-A6607194F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596" y="672084"/>
            <a:ext cx="4585716" cy="45857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34440" cy="329184"/>
          </a:xfrm>
          <a:prstGeom prst="roundRect">
            <a:avLst>
              <a:gd name="adj" fmla="val 19444"/>
            </a:avLst>
          </a:prstGeom>
          <a:solidFill>
            <a:srgbClr val="0FB5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setup, two hands-on tasks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loop: </a:t>
            </a:r>
            <a:r>
              <a:rPr lang="en-US" sz="150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tool call → observe → repeat. </a:t>
            </a: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watch it run dozens of steps a chat window couldn't sustain.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50215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502152" cy="128016"/>
          </a:xfrm>
          <a:prstGeom prst="rect">
            <a:avLst/>
          </a:prstGeom>
          <a:solidFill>
            <a:srgbClr val="6B7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2880360"/>
            <a:ext cx="1188720" cy="329184"/>
          </a:xfrm>
          <a:prstGeom prst="roundRect">
            <a:avLst>
              <a:gd name="adj" fmla="val 19444"/>
            </a:avLst>
          </a:prstGeom>
          <a:solidFill>
            <a:srgbClr val="6B7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383280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4041648"/>
            <a:ext cx="2816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everyone on the same agent, model, and Python environment.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334256" y="2468880"/>
            <a:ext cx="350215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34256" y="2468880"/>
            <a:ext cx="3502152" cy="128016"/>
          </a:xfrm>
          <a:prstGeom prst="rect">
            <a:avLst/>
          </a:prstGeom>
          <a:solidFill>
            <a:srgbClr val="0FB5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00016" y="2880360"/>
            <a:ext cx="1188720" cy="329184"/>
          </a:xfrm>
          <a:prstGeom prst="roundRect">
            <a:avLst>
              <a:gd name="adj" fmla="val 19444"/>
            </a:avLst>
          </a:prstGeom>
          <a:solidFill>
            <a:srgbClr val="0FB5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0016" y="28803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1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00016" y="3383280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 on data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00016" y="4041648"/>
            <a:ext cx="2816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analysis, data cleaning, a cross-validated model, and a memo.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119872" y="2468880"/>
            <a:ext cx="350215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19872" y="2468880"/>
            <a:ext cx="3502152" cy="128016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485632" y="2880360"/>
            <a:ext cx="1188720" cy="329184"/>
          </a:xfrm>
          <a:prstGeom prst="roundRect">
            <a:avLst>
              <a:gd name="adj" fmla="val 19444"/>
            </a:avLst>
          </a:prstGeom>
          <a:solidFill>
            <a:srgbClr val="FF9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85632" y="28803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2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85632" y="3383280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 on code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485632" y="4041648"/>
            <a:ext cx="2816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3D FEM solver from scratch — write, run, debug, validate.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</a:t>
            </a: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github.com/nicklj/agent-workshop-kit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182880"/>
            <a:ext cx="49377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0" b="1" dirty="0">
                <a:solidFill>
                  <a:srgbClr val="1230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6000" dirty="0"/>
          </a:p>
        </p:txBody>
      </p:sp>
      <p:sp>
        <p:nvSpPr>
          <p:cNvPr id="3" name="Shape 1"/>
          <p:cNvSpPr/>
          <p:nvPr/>
        </p:nvSpPr>
        <p:spPr>
          <a:xfrm>
            <a:off x="777240" y="2148840"/>
            <a:ext cx="1234440" cy="329184"/>
          </a:xfrm>
          <a:prstGeom prst="roundRect">
            <a:avLst>
              <a:gd name="adj" fmla="val 19444"/>
            </a:avLst>
          </a:prstGeom>
          <a:solidFill>
            <a:srgbClr val="6B7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0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49808" y="257860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365760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A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agent, same model, same Python env. We'll do all five steps together.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23160" cy="329184"/>
          </a:xfrm>
          <a:prstGeom prst="roundRect">
            <a:avLst>
              <a:gd name="adj" fmla="val 19444"/>
            </a:avLst>
          </a:prstGeom>
          <a:solidFill>
            <a:srgbClr val="6B7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0 · STEP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an OpenAI API key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658368"/>
          </a:xfrm>
          <a:prstGeom prst="rect">
            <a:avLst/>
          </a:prstGeom>
          <a:solidFill>
            <a:srgbClr val="FFF3DF"/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8872" cy="658368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B5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</a:t>
            </a:r>
            <a:r>
              <a:rPr lang="en-US" sz="1450" dirty="0">
                <a:solidFill>
                  <a:srgbClr val="7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has free models. Do this step only to run </a:t>
            </a:r>
            <a:r>
              <a:rPr lang="en-US" sz="1450" b="1" dirty="0">
                <a:solidFill>
                  <a:srgbClr val="7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gpt-5.4-mini</a:t>
            </a:r>
            <a:r>
              <a:rPr lang="en-US" sz="1450" dirty="0">
                <a:solidFill>
                  <a:srgbClr val="7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Using a free model? Skip to Step 4.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916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04672" y="2852928"/>
            <a:ext cx="438912" cy="438912"/>
          </a:xfrm>
          <a:prstGeom prst="ellipse">
            <a:avLst/>
          </a:prstGeom>
          <a:solidFill>
            <a:srgbClr val="6B7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" y="2852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788920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an account (or sign in)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108960"/>
            <a:ext cx="9902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platform.openai.com/signup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110916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4672" y="3749040"/>
            <a:ext cx="438912" cy="438912"/>
          </a:xfrm>
          <a:prstGeom prst="ellipse">
            <a:avLst/>
          </a:prstGeom>
          <a:solidFill>
            <a:srgbClr val="6B7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4672" y="3749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685032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billing → Add to credit balance → top up US$5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005072"/>
            <a:ext cx="9902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platform.openai.com/settings/organization/billing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489704"/>
            <a:ext cx="110916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4672" y="4645152"/>
            <a:ext cx="438912" cy="438912"/>
          </a:xfrm>
          <a:prstGeom prst="ellipse">
            <a:avLst/>
          </a:prstGeom>
          <a:solidFill>
            <a:srgbClr val="6B7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4672" y="4645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4581144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the API keys page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901184"/>
            <a:ext cx="9902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platform.openai.com/api-keys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385816"/>
            <a:ext cx="110916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04672" y="5541264"/>
            <a:ext cx="438912" cy="438912"/>
          </a:xfrm>
          <a:prstGeom prst="ellipse">
            <a:avLst/>
          </a:prstGeom>
          <a:solidFill>
            <a:srgbClr val="6B7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4672" y="55412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3040" y="5477256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new secret key, name it "workshop", copy it now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5797296"/>
            <a:ext cx="9902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can't see it again — keep it handy for Step 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</a:t>
            </a: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github.com/nicklj/agent-workshop-kit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23160" cy="329184"/>
          </a:xfrm>
          <a:prstGeom prst="roundRect">
            <a:avLst>
              <a:gd name="adj" fmla="val 19444"/>
            </a:avLst>
          </a:prstGeom>
          <a:solidFill>
            <a:srgbClr val="6B7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0 · STEP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 $WORKSHOP at the kit, then install uv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 the kit anywhere, then set WORKSHOP to that folder — used in every command below. Persist it so new terminals see 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58384" cy="3566160"/>
          </a:xfrm>
          <a:prstGeom prst="rect">
            <a:avLst/>
          </a:prstGeom>
          <a:solidFill>
            <a:srgbClr val="0E2038"/>
          </a:solidFill>
          <a:ln/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58384" cy="402336"/>
          </a:xfrm>
          <a:prstGeom prst="rect">
            <a:avLst/>
          </a:prstGeom>
          <a:solidFill>
            <a:srgbClr val="12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8096" y="2148840"/>
            <a:ext cx="4992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FB5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macOS / Linux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679192"/>
            <a:ext cx="485546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93B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WORKSHOP, then reload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'export WORKSHOP=\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"/path/to/workshop"' &gt;&gt; ~/.zshrc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~/.zshrc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93B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uv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-LsSf \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https://astral.sh/uv/install.sh | sh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81928" y="2148840"/>
            <a:ext cx="5358384" cy="3566160"/>
          </a:xfrm>
          <a:prstGeom prst="rect">
            <a:avLst/>
          </a:prstGeom>
          <a:solidFill>
            <a:srgbClr val="0E2038"/>
          </a:solidFill>
          <a:ln/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81928" y="2148840"/>
            <a:ext cx="5358384" cy="402336"/>
          </a:xfrm>
          <a:prstGeom prst="rect">
            <a:avLst/>
          </a:prstGeom>
          <a:solidFill>
            <a:srgbClr val="12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01384" y="2148840"/>
            <a:ext cx="4992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8FC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Windows (PowerShell)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56248" y="2679192"/>
            <a:ext cx="485546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93B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setx persists; also set this session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setx WORKSHOP "C:\path\to\workshop"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$env:WORKSHOP = \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"C:\path\to\workshop"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93B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uv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 -ExecutionPolicy ByPass -c `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"irm https://astral.sh/uv/install.ps1 | iex"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 </a:t>
            </a:r>
            <a:r>
              <a:rPr lang="en-US" sz="1300" b="1" dirty="0">
                <a:solidFill>
                  <a:srgbClr val="11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--version</a:t>
            </a: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(open a new terminal if it isn't found)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</a:t>
            </a: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github.com/nicklj/agent-workshop-kit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23160" cy="329184"/>
          </a:xfrm>
          <a:prstGeom prst="roundRect">
            <a:avLst>
              <a:gd name="adj" fmla="val 19444"/>
            </a:avLst>
          </a:prstGeom>
          <a:solidFill>
            <a:srgbClr val="6B7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0 · STEP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the environment &amp; verify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pip install</a:t>
            </a: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targets the .venv in the current folder automatically — no activation needed.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58384" cy="1783080"/>
          </a:xfrm>
          <a:prstGeom prst="rect">
            <a:avLst/>
          </a:prstGeom>
          <a:solidFill>
            <a:srgbClr val="0E2038"/>
          </a:solidFill>
          <a:ln/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58384" cy="402336"/>
          </a:xfrm>
          <a:prstGeom prst="rect">
            <a:avLst/>
          </a:prstGeom>
          <a:solidFill>
            <a:srgbClr val="12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8096" y="2148840"/>
            <a:ext cx="4992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FB5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macOS / Linux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679192"/>
            <a:ext cx="4855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"$WORKSHOP"</a:t>
            </a:r>
            <a:endParaRPr lang="en-US" sz="135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venv .venv --python 3.12</a:t>
            </a:r>
            <a:endParaRPr lang="en-US" sz="135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pip install -r requirements.txt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81928" y="2148840"/>
            <a:ext cx="5358384" cy="1783080"/>
          </a:xfrm>
          <a:prstGeom prst="rect">
            <a:avLst/>
          </a:prstGeom>
          <a:solidFill>
            <a:srgbClr val="0E2038"/>
          </a:solidFill>
          <a:ln/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81928" y="2148840"/>
            <a:ext cx="5358384" cy="402336"/>
          </a:xfrm>
          <a:prstGeom prst="rect">
            <a:avLst/>
          </a:prstGeom>
          <a:solidFill>
            <a:srgbClr val="12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01384" y="2148840"/>
            <a:ext cx="4992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8FC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Windows (PowerShell)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56248" y="2679192"/>
            <a:ext cx="4855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$env:WORKSHOP</a:t>
            </a:r>
            <a:endParaRPr lang="en-US" sz="135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venv .venv --python 3.12</a:t>
            </a:r>
            <a:endParaRPr lang="en-US" sz="135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pip install -r requirements.txt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1091672" cy="2011680"/>
          </a:xfrm>
          <a:prstGeom prst="rect">
            <a:avLst/>
          </a:prstGeom>
          <a:solidFill>
            <a:srgbClr val="0E2038"/>
          </a:solidFill>
          <a:ln/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11091672" cy="402336"/>
          </a:xfrm>
          <a:prstGeom prst="rect">
            <a:avLst/>
          </a:prstGeom>
          <a:solidFill>
            <a:srgbClr val="12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" y="4069080"/>
            <a:ext cx="10725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FB5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— should print:  ok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599432"/>
            <a:ext cx="105887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93B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macOS / Linux</a:t>
            </a:r>
            <a:endParaRPr lang="en-US" sz="1150" dirty="0"/>
          </a:p>
          <a:p>
            <a:pPr marL="0" indent="0" algn="l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"$WORKSHOP/.venv/bin/python" -c "import pandas, matplotlib, sklearn, skfem; print('ok')"</a:t>
            </a:r>
            <a:endParaRPr lang="en-US" sz="115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93B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 (PowerShell)</a:t>
            </a:r>
            <a:endParaRPr lang="en-US" sz="115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"$env:WORKSHOP\.venv\Scripts\python.exe" -c "import pandas, matplotlib, sklearn, skfem; print('ok')"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</a:t>
            </a: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github.com/nicklj/agent-workshop-kit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23160" cy="329184"/>
          </a:xfrm>
          <a:prstGeom prst="roundRect">
            <a:avLst>
              <a:gd name="adj" fmla="val 19444"/>
            </a:avLst>
          </a:prstGeom>
          <a:solidFill>
            <a:srgbClr val="6B7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0 · STEP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OpenCode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1691640"/>
          </a:xfrm>
          <a:prstGeom prst="rect">
            <a:avLst/>
          </a:prstGeom>
          <a:solidFill>
            <a:srgbClr val="0E2038"/>
          </a:solidFill>
          <a:ln/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402336"/>
          </a:xfrm>
          <a:prstGeom prst="rect">
            <a:avLst/>
          </a:prstGeom>
          <a:solidFill>
            <a:srgbClr val="12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1783080"/>
            <a:ext cx="10725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FB5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macOS / Linux  —  pick one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313432"/>
            <a:ext cx="10588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https://opencode.ai/install | bash    # install script</a:t>
            </a:r>
            <a:endParaRPr lang="en-US" sz="135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sst/tap/opencode                    # Homebrew</a:t>
            </a:r>
            <a:endParaRPr lang="en-US" sz="135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opencode-ai                       # npm (needs Node.js)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1091672" cy="1463040"/>
          </a:xfrm>
          <a:prstGeom prst="rect">
            <a:avLst/>
          </a:prstGeom>
          <a:solidFill>
            <a:srgbClr val="0E2038"/>
          </a:solidFill>
          <a:ln/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91672" cy="402336"/>
          </a:xfrm>
          <a:prstGeom prst="rect">
            <a:avLst/>
          </a:prstGeom>
          <a:solidFill>
            <a:srgbClr val="12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8096" y="3657600"/>
            <a:ext cx="10725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8FC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Windows  —  two choices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4187952"/>
            <a:ext cx="10588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opencode-ai      # needs Node.js from nodejs.org</a:t>
            </a:r>
            <a:endParaRPr lang="en-US" sz="135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93B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— or — download OpenCode Desktop (GUI, no Node.js) from opencode.ai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303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 </a:t>
            </a:r>
            <a:r>
              <a:rPr lang="en-US" sz="1350" b="1" dirty="0">
                <a:solidFill>
                  <a:srgbClr val="11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opencode --version</a:t>
            </a: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not found? open a new terminal so the install dir is on PATH.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</a:t>
            </a: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github.com/nicklj/agent-workshop-kit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23160" cy="329184"/>
          </a:xfrm>
          <a:prstGeom prst="roundRect">
            <a:avLst>
              <a:gd name="adj" fmla="val 19444"/>
            </a:avLst>
          </a:prstGeom>
          <a:solidFill>
            <a:srgbClr val="6B7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0 · STEP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your model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5838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58384" cy="118872"/>
          </a:xfrm>
          <a:prstGeom prst="rect">
            <a:avLst/>
          </a:prstGeom>
          <a:solidFill>
            <a:srgbClr val="0FB5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148840"/>
            <a:ext cx="2743200" cy="329184"/>
          </a:xfrm>
          <a:prstGeom prst="roundRect">
            <a:avLst>
              <a:gd name="adj" fmla="val 19444"/>
            </a:avLst>
          </a:prstGeom>
          <a:solidFill>
            <a:srgbClr val="0FB5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A · FREE MODEL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4626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account, no key, no spend. Good enough for both tasks.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337560"/>
            <a:ext cx="4626864" cy="1554480"/>
          </a:xfrm>
          <a:prstGeom prst="rect">
            <a:avLst/>
          </a:prstGeom>
          <a:solidFill>
            <a:srgbClr val="0E2038"/>
          </a:solidFill>
          <a:ln/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337560"/>
            <a:ext cx="4626864" cy="402336"/>
          </a:xfrm>
          <a:prstGeom prst="rect">
            <a:avLst/>
          </a:prstGeom>
          <a:solidFill>
            <a:srgbClr val="12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3856" y="3337560"/>
            <a:ext cx="4261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FB5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OpenCode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88720" y="3867912"/>
            <a:ext cx="4123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opencode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/models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93B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pick a free model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81928" y="1783080"/>
            <a:ext cx="535838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81928" y="1783080"/>
            <a:ext cx="5358384" cy="118872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647688" y="2148840"/>
            <a:ext cx="2743200" cy="329184"/>
          </a:xfrm>
          <a:prstGeom prst="roundRect">
            <a:avLst>
              <a:gd name="adj" fmla="val 19444"/>
            </a:avLst>
          </a:prstGeom>
          <a:solidFill>
            <a:srgbClr val="FF9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47688" y="21488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B · OPENAI KEY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47688" y="2651760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key from Step 1 to run gpt-5.4-mini.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47688" y="3154680"/>
            <a:ext cx="4626864" cy="1783080"/>
          </a:xfrm>
          <a:prstGeom prst="rect">
            <a:avLst/>
          </a:prstGeom>
          <a:solidFill>
            <a:srgbClr val="0E2038"/>
          </a:solidFill>
          <a:ln/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47688" y="3154680"/>
            <a:ext cx="4626864" cy="402336"/>
          </a:xfrm>
          <a:prstGeom prst="rect">
            <a:avLst/>
          </a:prstGeom>
          <a:solidFill>
            <a:srgbClr val="12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67144" y="3154680"/>
            <a:ext cx="4261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9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OpenCode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922008" y="3685032"/>
            <a:ext cx="41239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opencode auth login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93B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OpenAI → API Key → paste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/models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93B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openai / gpt-5.4-mini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model picker with /models (or the keybind in the footer). Your choice persists; the active model shows in the TUI footer.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</a:t>
            </a: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github.com/nicklj/agent-workshop-kit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23160" cy="329184"/>
          </a:xfrm>
          <a:prstGeom prst="roundRect">
            <a:avLst>
              <a:gd name="adj" fmla="val 19444"/>
            </a:avLst>
          </a:prstGeom>
          <a:solidFill>
            <a:srgbClr val="6B7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0 · STEP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Smoke test — ask the agent three things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an empty folder:  </a:t>
            </a:r>
            <a:r>
              <a:rPr lang="en-US" sz="1300" b="1" dirty="0">
                <a:solidFill>
                  <a:srgbClr val="11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~/opencode_smoke &amp;&amp; cd ~/opencode_smoke &amp;&amp; opencode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916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569464"/>
            <a:ext cx="457200" cy="457200"/>
          </a:xfrm>
          <a:prstGeom prst="ellipse">
            <a:avLst/>
          </a:prstGeom>
          <a:solidFill>
            <a:srgbClr val="6B7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08760" y="2423160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"List the files in this folder."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289864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calls a tool and reports the folder is empty.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538728"/>
            <a:ext cx="110916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" y="3867912"/>
            <a:ext cx="457200" cy="457200"/>
          </a:xfrm>
          <a:prstGeom prst="ellipse">
            <a:avLst/>
          </a:prstGeom>
          <a:solidFill>
            <a:srgbClr val="6B7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508760" y="3721608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"Create hello.txt with the text 'hello workshop'."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197096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writes the file — check it from another terminal.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11091672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FF9F1C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" y="5166360"/>
            <a:ext cx="457200" cy="457200"/>
          </a:xfrm>
          <a:prstGeom prst="ellipse">
            <a:avLst/>
          </a:prstGeom>
          <a:solidFill>
            <a:srgbClr val="FF9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508760" y="5020056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"Run $WORKSHOP/.venv/bin/python -c 'import pandas; print(pandas.__version__)'"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5495544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5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TEST: it runs the workshop Python and reports a version.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</a:t>
            </a: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github.com/nicklj/agent-workshop-kit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23160" cy="329184"/>
          </a:xfrm>
          <a:prstGeom prst="roundRect">
            <a:avLst>
              <a:gd name="adj" fmla="val 19444"/>
            </a:avLst>
          </a:prstGeom>
          <a:solidFill>
            <a:srgbClr val="6B7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0 · READY?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You're set when all of these are true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048256"/>
            <a:ext cx="310896" cy="310896"/>
          </a:xfrm>
          <a:prstGeom prst="ellipse">
            <a:avLst/>
          </a:prstGeom>
          <a:solidFill>
            <a:srgbClr val="0FB5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--version works  (or the OpenCode Desktop app opens)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22960" y="2761488"/>
            <a:ext cx="310896" cy="310896"/>
          </a:xfrm>
          <a:prstGeom prst="ellipse">
            <a:avLst/>
          </a:prstGeom>
          <a:solidFill>
            <a:srgbClr val="0FB5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633472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active — shown in the TUI footer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346704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3474720"/>
            <a:ext cx="310896" cy="310896"/>
          </a:xfrm>
          <a:prstGeom prst="ellipse">
            <a:avLst/>
          </a:prstGeom>
          <a:solidFill>
            <a:srgbClr val="0FB5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346704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"$WORKSHOP" prints your kit folder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059936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" y="4187952"/>
            <a:ext cx="310896" cy="310896"/>
          </a:xfrm>
          <a:prstGeom prst="ellipse">
            <a:avLst/>
          </a:prstGeom>
          <a:solidFill>
            <a:srgbClr val="0FB5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4059936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venv's Python imports pandas, matplotlib, sklearn, skfem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773168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2960" y="4901184"/>
            <a:ext cx="310896" cy="310896"/>
          </a:xfrm>
          <a:prstGeom prst="ellipse">
            <a:avLst/>
          </a:prstGeom>
          <a:solidFill>
            <a:srgbClr val="0FB5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4901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4773168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 #3 printed a real version number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2960" y="5614416"/>
            <a:ext cx="310896" cy="310896"/>
          </a:xfrm>
          <a:prstGeom prst="ellipse">
            <a:avLst/>
          </a:prstGeom>
          <a:solidFill>
            <a:srgbClr val="0FB5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2960" y="5614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71600" y="5486400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(OpenAI-key route) opencode auth list shows openai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</a:t>
            </a: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github.com/nicklj/agent-workshop-kit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182880"/>
            <a:ext cx="49377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0" b="1" dirty="0">
                <a:solidFill>
                  <a:srgbClr val="1230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6000" dirty="0"/>
          </a:p>
        </p:txBody>
      </p:sp>
      <p:sp>
        <p:nvSpPr>
          <p:cNvPr id="3" name="Shape 1"/>
          <p:cNvSpPr/>
          <p:nvPr/>
        </p:nvSpPr>
        <p:spPr>
          <a:xfrm>
            <a:off x="777240" y="2148840"/>
            <a:ext cx="1234440" cy="329184"/>
          </a:xfrm>
          <a:prstGeom prst="roundRect">
            <a:avLst>
              <a:gd name="adj" fmla="val 19444"/>
            </a:avLst>
          </a:prstGeom>
          <a:solidFill>
            <a:srgbClr val="0FB5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49808" y="257860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 on data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365760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A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the agent a messy 200-design sweep. It cleans, analyses, models, and writes the memo.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063240" cy="329184"/>
          </a:xfrm>
          <a:prstGeom prst="roundRect">
            <a:avLst>
              <a:gd name="adj" fmla="val 19444"/>
            </a:avLst>
          </a:prstGeom>
          <a:solidFill>
            <a:srgbClr val="0FB5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1 · FIRST, A RULE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AGENTS.md — standing rules for your agent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plain-Markdown file OpenCode reads at the start of every session in a project.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instructions the agent always sees</a:t>
            </a:r>
            <a:endParaRPr lang="en-US" sz="1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the project — travels with the kit when copied</a:t>
            </a:r>
            <a:endParaRPr lang="en-US" sz="1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repeat the same setup in every prompt</a:t>
            </a:r>
            <a:endParaRPr lang="en-US" sz="1500" dirty="0"/>
          </a:p>
          <a:p>
            <a:pPr marL="228600" indent="-228600" algn="l">
              <a:buSzPct val="100000"/>
              <a:buChar char="•"/>
            </a:pPr>
            <a:r>
              <a:rPr lang="en-US" sz="150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Here: it pins the workshop Python so the agent never grabs the wrong env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12280" y="1783080"/>
            <a:ext cx="4828032" cy="3310128"/>
          </a:xfrm>
          <a:prstGeom prst="rect">
            <a:avLst/>
          </a:prstGeom>
          <a:solidFill>
            <a:srgbClr val="0E2038"/>
          </a:solidFill>
          <a:ln/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12280" y="1783080"/>
            <a:ext cx="4828032" cy="402336"/>
          </a:xfrm>
          <a:prstGeom prst="rect">
            <a:avLst/>
          </a:prstGeom>
          <a:solidFill>
            <a:srgbClr val="12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31736" y="1783080"/>
            <a:ext cx="4462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AFC4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task1_kit / AGENTS.md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086600" y="2313432"/>
            <a:ext cx="432511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93B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Workshop environment rule</a:t>
            </a:r>
            <a:endParaRPr lang="en-US" sz="145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run Python as</a:t>
            </a:r>
            <a:endParaRPr lang="en-US" sz="1450" dirty="0"/>
          </a:p>
          <a:p>
            <a:pPr marL="0" indent="0" algn="l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$WORKSHOP/.venv/bin/python</a:t>
            </a:r>
            <a:endParaRPr lang="en-US" sz="145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(and the same with -m pip</a:t>
            </a:r>
            <a:endParaRPr lang="en-US" sz="1450" dirty="0"/>
          </a:p>
          <a:p>
            <a:pPr marL="0" indent="0" algn="l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installs).</a:t>
            </a:r>
            <a:endParaRPr lang="en-US" sz="145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use the system python.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812280" y="5276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kit ships one — copied to a fresh folder, the agent reads it automatically.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</a:t>
            </a: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github.com/nicklj/agent-workshop-kit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68880" cy="329184"/>
          </a:xfrm>
          <a:prstGeom prst="roundRect">
            <a:avLst>
              <a:gd name="adj" fmla="val 19444"/>
            </a:avLst>
          </a:prstGeom>
          <a:solidFill>
            <a:srgbClr val="0FB5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1 · LAUNCH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Copy the kit, open OpenCode, hand over the brief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58384" cy="1920240"/>
          </a:xfrm>
          <a:prstGeom prst="rect">
            <a:avLst/>
          </a:prstGeom>
          <a:solidFill>
            <a:srgbClr val="0E2038"/>
          </a:solidFill>
          <a:ln/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58384" cy="402336"/>
          </a:xfrm>
          <a:prstGeom prst="rect">
            <a:avLst/>
          </a:prstGeom>
          <a:solidFill>
            <a:srgbClr val="12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1783080"/>
            <a:ext cx="4992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FB5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macOS / Linux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313432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-r "$WORKSHOP/task1_kit" \</a:t>
            </a:r>
            <a:endParaRPr lang="en-US" sz="14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~/agent_task1</a:t>
            </a:r>
            <a:endParaRPr lang="en-US" sz="14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~/agent_task1</a:t>
            </a:r>
            <a:endParaRPr lang="en-US" sz="14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81928" y="1783080"/>
            <a:ext cx="5358384" cy="1920240"/>
          </a:xfrm>
          <a:prstGeom prst="rect">
            <a:avLst/>
          </a:prstGeom>
          <a:solidFill>
            <a:srgbClr val="0E2038"/>
          </a:solidFill>
          <a:ln/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81928" y="1783080"/>
            <a:ext cx="5358384" cy="402336"/>
          </a:xfrm>
          <a:prstGeom prst="rect">
            <a:avLst/>
          </a:prstGeom>
          <a:solidFill>
            <a:srgbClr val="12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01384" y="1783080"/>
            <a:ext cx="4992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8FC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Windows (PowerShell)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56248" y="2313432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Copy-Item -Recurse `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"$env:WORKSHOP\task1_kit" `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$HOME\agent_task1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$HOME\agent_task1 ; opencode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916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8872" cy="1920240"/>
          </a:xfrm>
          <a:prstGeom prst="rect">
            <a:avLst/>
          </a:prstGeom>
          <a:solidFill>
            <a:srgbClr val="0FB5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1879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0FB5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THEN SAY TO THE AGENT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55371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"Read BRIEF.md and produce the engineering memo it asks for. Don't pre-clean the data — flag any quality issues you find yourself."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5468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let it work. Coach only if it stalls — the point is to watch the loop run.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</a:t>
            </a: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github.com/nicklj/agent-workshop-kit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88920" cy="329184"/>
          </a:xfrm>
          <a:prstGeom prst="roundRect">
            <a:avLst>
              <a:gd name="adj" fmla="val 19444"/>
            </a:avLst>
          </a:prstGeom>
          <a:solidFill>
            <a:srgbClr val="0FB5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1 · THE TASK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Thermal-aware packaging design exploration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CSVs from a 200-design GPU + HBM thermal sweep. A good run will: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7040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two tables on design_id</a:t>
            </a:r>
            <a:endParaRPr lang="en-US" sz="1550" dirty="0"/>
          </a:p>
          <a:p>
            <a:pPr marL="228600" indent="-228600" algn="l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3 planted data-quality issues (it isn't told what they are)</a:t>
            </a:r>
            <a:endParaRPr lang="en-US" sz="1550" dirty="0"/>
          </a:p>
          <a:p>
            <a:pPr marL="228600" indent="-228600" algn="l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Pareto front: max temperature vs. total wire length</a:t>
            </a:r>
            <a:endParaRPr lang="en-US" sz="1550" dirty="0"/>
          </a:p>
          <a:p>
            <a:pPr marL="228600" indent="-228600" algn="l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design rules — e.g. "12-layer stacks need cold plate or immersion"</a:t>
            </a:r>
            <a:endParaRPr lang="en-US" sz="1550" dirty="0"/>
          </a:p>
          <a:p>
            <a:pPr marL="228600" indent="-228600" algn="l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+ cross-validate a regression for max temperature; defend it with numbers</a:t>
            </a:r>
            <a:endParaRPr lang="en-US" sz="1550" dirty="0"/>
          </a:p>
          <a:p>
            <a:pPr marL="228600" indent="-228600" algn="l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report.md + top_designs.csv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55280" y="2286000"/>
            <a:ext cx="368503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55280" y="2286000"/>
            <a:ext cx="118872" cy="3611880"/>
          </a:xfrm>
          <a:prstGeom prst="rect">
            <a:avLst/>
          </a:prstGeom>
          <a:solidFill>
            <a:srgbClr val="0FB5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21040" y="2578608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0FB5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BEATS A CHATBOT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321040" y="3063240"/>
            <a:ext cx="304495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big to paste</a:t>
            </a:r>
            <a:endParaRPr lang="en-US" sz="1350" dirty="0"/>
          </a:p>
          <a:p>
            <a:pPr marL="0" indent="0" algn="l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rows across two files.</a:t>
            </a:r>
            <a:endParaRPr lang="en-US" sz="1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&amp; verifiable</a:t>
            </a:r>
            <a:endParaRPr lang="en-US" sz="1350" dirty="0"/>
          </a:p>
          <a:p>
            <a:pPr marL="0" indent="0" algn="l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→ plot → model → re-check, all on disk.</a:t>
            </a:r>
            <a:endParaRPr lang="en-US" sz="1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R²</a:t>
            </a:r>
            <a:endParaRPr lang="en-US" sz="1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copy-paste nightmare in chat.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</a:t>
            </a: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github.com/nicklj/agent-workshop-kit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182880"/>
            <a:ext cx="49377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0" b="1" dirty="0">
                <a:solidFill>
                  <a:srgbClr val="1230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6000" dirty="0"/>
          </a:p>
        </p:txBody>
      </p:sp>
      <p:sp>
        <p:nvSpPr>
          <p:cNvPr id="3" name="Shape 1"/>
          <p:cNvSpPr/>
          <p:nvPr/>
        </p:nvSpPr>
        <p:spPr>
          <a:xfrm>
            <a:off x="777240" y="2148840"/>
            <a:ext cx="1234440" cy="329184"/>
          </a:xfrm>
          <a:prstGeom prst="roundRect">
            <a:avLst>
              <a:gd name="adj" fmla="val 19444"/>
            </a:avLst>
          </a:prstGeom>
          <a:solidFill>
            <a:srgbClr val="FF9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2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49808" y="257860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 on code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365760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A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starter code. The agent builds a 3D finite-element solver from scratch and validates it.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68880" cy="329184"/>
          </a:xfrm>
          <a:prstGeom prst="roundRect">
            <a:avLst>
              <a:gd name="adj" fmla="val 19444"/>
            </a:avLst>
          </a:prstGeom>
          <a:solidFill>
            <a:srgbClr val="FF9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2 · LAUNCH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move — copy the kit, open OpenCode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58384" cy="1920240"/>
          </a:xfrm>
          <a:prstGeom prst="rect">
            <a:avLst/>
          </a:prstGeom>
          <a:solidFill>
            <a:srgbClr val="0E2038"/>
          </a:solidFill>
          <a:ln/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58384" cy="402336"/>
          </a:xfrm>
          <a:prstGeom prst="rect">
            <a:avLst/>
          </a:prstGeom>
          <a:solidFill>
            <a:srgbClr val="12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1783080"/>
            <a:ext cx="4992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FB5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macOS / Linux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313432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-r "$WORKSHOP/task2_kit" \</a:t>
            </a:r>
            <a:endParaRPr lang="en-US" sz="14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~/agent_task2</a:t>
            </a:r>
            <a:endParaRPr lang="en-US" sz="14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~/agent_task2</a:t>
            </a:r>
            <a:endParaRPr lang="en-US" sz="14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81928" y="1783080"/>
            <a:ext cx="5358384" cy="1920240"/>
          </a:xfrm>
          <a:prstGeom prst="rect">
            <a:avLst/>
          </a:prstGeom>
          <a:solidFill>
            <a:srgbClr val="0E2038"/>
          </a:solidFill>
          <a:ln/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81928" y="1783080"/>
            <a:ext cx="5358384" cy="402336"/>
          </a:xfrm>
          <a:prstGeom prst="rect">
            <a:avLst/>
          </a:prstGeom>
          <a:solidFill>
            <a:srgbClr val="12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01384" y="1783080"/>
            <a:ext cx="4992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8FC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Windows (PowerShell)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56248" y="2313432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Copy-Item -Recurse `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"$env:WORKSHOP\task2_kit" `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$HOME\agent_task2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EA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$HOME\agent_task2 ; opencode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916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8872" cy="192024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1879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FF9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THEN SAY TO THE AGENT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55371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"Read BRIEF.md and build the FEM solver it describes in scikit-fem. Validate the centerline against the 1-D analytical limit before you report."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5468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bugs — a NaN, a wrong sign, a singular matrix. Watching it diagnose and fix is the whole demo.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</a:t>
            </a: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github.com/nicklj/agent-workshop-kit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88920" cy="329184"/>
          </a:xfrm>
          <a:prstGeom prst="roundRect">
            <a:avLst>
              <a:gd name="adj" fmla="val 19444"/>
            </a:avLst>
          </a:prstGeom>
          <a:solidFill>
            <a:srgbClr val="FF9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2 · THE TASK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3D transient thermomechanical FEM solver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 × 5 × 10 mm silicon-on-copper brick. </a:t>
            </a: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solver provided — the agent writes it in scikit-fem.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6949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tet mesh, two material subdomains in z</a:t>
            </a:r>
            <a:endParaRPr lang="en-US" sz="15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heat equation, implicit Euler time-stepping</a:t>
            </a:r>
            <a:endParaRPr lang="en-US" sz="15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linear elasticity with thermal load</a:t>
            </a:r>
            <a:endParaRPr lang="en-US" sz="15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the 1-D analytical centerline limit</a:t>
            </a:r>
            <a:endParaRPr lang="en-US" sz="15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1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Long-horizon loop: write ~200 lines → hit a NaN/sign bug → diagnose → fix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863840" y="2286000"/>
            <a:ext cx="3776472" cy="3611880"/>
          </a:xfrm>
          <a:prstGeom prst="rect">
            <a:avLst/>
          </a:prstGeom>
          <a:solidFill>
            <a:srgbClr val="0E2038"/>
          </a:solidFill>
          <a:ln/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0" y="256032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FF9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NUMBERS TO HIT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0" y="306324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344 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0" y="352044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centerline temperature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0" y="397764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 MPa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29600" y="443484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von Mises stress (copper)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489204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0.86 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29600" y="534924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95% steady 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</a:t>
            </a: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github.com/nicklj/agent-workshop-kit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0" cy="329184"/>
          </a:xfrm>
          <a:prstGeom prst="roundRect">
            <a:avLst>
              <a:gd name="adj" fmla="val 19444"/>
            </a:avLst>
          </a:prstGeom>
          <a:solidFill>
            <a:srgbClr val="FF9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2 · IF YOU HAVE TIME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Stretch goals to try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0215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514600"/>
            <a:ext cx="548640" cy="548640"/>
          </a:xfrm>
          <a:prstGeom prst="ellipse">
            <a:avLst/>
          </a:prstGeom>
          <a:solidFill>
            <a:srgbClr val="FF9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Transient stress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2816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the mechanical solve from the temperature history and plot peak σ_vm(t) at the interface.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34256" y="2103120"/>
            <a:ext cx="350215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0016" y="2514600"/>
            <a:ext cx="548640" cy="548640"/>
          </a:xfrm>
          <a:prstGeom prst="ellipse">
            <a:avLst/>
          </a:prstGeom>
          <a:solidFill>
            <a:srgbClr val="FF9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0016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00016" y="324612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Convective cooling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00016" y="3794760"/>
            <a:ext cx="2816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fixed top-face temperature for h·(T − T_ambient); find h that keeps peak die T below 360 K.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19872" y="2103120"/>
            <a:ext cx="350215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E20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85632" y="2514600"/>
            <a:ext cx="548640" cy="548640"/>
          </a:xfrm>
          <a:prstGeom prst="ellipse">
            <a:avLst/>
          </a:prstGeom>
          <a:solidFill>
            <a:srgbClr val="FF9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85632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85632" y="324612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Mesh convergence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85632" y="3794760"/>
            <a:ext cx="2816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2× in each direction and check the peak stress changes by &lt; 5% — a real convergence study.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</a:t>
            </a: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github.com/nicklj/agent-workshop-kit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554480"/>
            <a:ext cx="502920" cy="502920"/>
          </a:xfrm>
          <a:prstGeom prst="rect">
            <a:avLst/>
          </a:prstGeom>
          <a:solidFill>
            <a:srgbClr val="0FB5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554480"/>
            <a:ext cx="502920" cy="50292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CD41EA1-08B9-4E5A-5DDC-076DC3B06A42}"/>
              </a:ext>
            </a:extLst>
          </p:cNvPr>
          <p:cNvSpPr/>
          <p:nvPr/>
        </p:nvSpPr>
        <p:spPr>
          <a:xfrm>
            <a:off x="7831836" y="573887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 for the kit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4649B45-D672-3262-A2CC-D06B1EA45BDE}"/>
              </a:ext>
            </a:extLst>
          </p:cNvPr>
          <p:cNvSpPr/>
          <p:nvPr/>
        </p:nvSpPr>
        <p:spPr>
          <a:xfrm>
            <a:off x="6927596" y="6177788"/>
            <a:ext cx="4675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github.com/nicklj/agent-workshop-kit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772D31-2EB3-B891-5522-320086089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596" y="672084"/>
            <a:ext cx="4585716" cy="45857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1941</Words>
  <Application>Microsoft Macintosh PowerPoint</Application>
  <PresentationFormat>Widescreen</PresentationFormat>
  <Paragraphs>270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Research Workflows</dc:title>
  <dc:subject>PptxGenJS Presentation</dc:subject>
  <dc:creator>Agentic AI Workshop</dc:creator>
  <cp:lastModifiedBy>Liu Jun (IHPC)</cp:lastModifiedBy>
  <cp:revision>6</cp:revision>
  <dcterms:created xsi:type="dcterms:W3CDTF">2026-05-29T03:08:09Z</dcterms:created>
  <dcterms:modified xsi:type="dcterms:W3CDTF">2026-05-29T04:20:44Z</dcterms:modified>
</cp:coreProperties>
</file>